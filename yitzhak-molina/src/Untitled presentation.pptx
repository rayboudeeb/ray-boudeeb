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9e9bd8fa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9e9bd8fa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9e9bd8fae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9e9bd8fae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9e9bd8fae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9e9bd8fa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9e9bd8fa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9e9bd8fa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9e9bd8fa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9e9bd8fa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9e9bd8fa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9e9bd8fa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9e9bd8fa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9e9bd8fa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9e9bd8fa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9e9bd8fa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9e9bd8fae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9e9bd8fae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9e9bd8fa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9e9bd8fa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e9e9bd8fa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e9e9bd8fa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9e9bd8fa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9e9bd8fa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e9e9bd8fa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e9e9bd8fa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Data Science in Agriculture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Along with Big Data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Role of Data Science in Agriculture</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Data Science uses </a:t>
            </a:r>
            <a:r>
              <a:rPr lang="en"/>
              <a:t>mathematics</a:t>
            </a:r>
            <a:r>
              <a:rPr lang="en"/>
              <a:t>, statistics, and programing to create tools that help spot patterns and find the best methods for managing </a:t>
            </a:r>
            <a:r>
              <a:rPr lang="en"/>
              <a:t>decision making. </a:t>
            </a:r>
            <a:endParaRPr/>
          </a:p>
          <a:p>
            <a:pPr indent="-317500" lvl="1" marL="914400" rtl="0" algn="l">
              <a:spcBef>
                <a:spcPts val="0"/>
              </a:spcBef>
              <a:spcAft>
                <a:spcPts val="0"/>
              </a:spcAft>
              <a:buSzPts val="1400"/>
              <a:buChar char="○"/>
            </a:pPr>
            <a:r>
              <a:rPr lang="en"/>
              <a:t>In agriculture that is focused on not just plots and yields but also economical and sustainability.  </a:t>
            </a:r>
            <a:endParaRPr/>
          </a:p>
          <a:p>
            <a:pPr indent="-342900" lvl="0" marL="457200" rtl="0" algn="l">
              <a:spcBef>
                <a:spcPts val="0"/>
              </a:spcBef>
              <a:spcAft>
                <a:spcPts val="0"/>
              </a:spcAft>
              <a:buSzPts val="1800"/>
              <a:buChar char="●"/>
            </a:pPr>
            <a:r>
              <a:rPr lang="en"/>
              <a:t>Most commonly there is a pipeline methodology used that is broken down into at least five phases.</a:t>
            </a:r>
            <a:endParaRPr/>
          </a:p>
          <a:p>
            <a:pPr indent="-317500" lvl="1" marL="914400" rtl="0" algn="l">
              <a:spcBef>
                <a:spcPts val="0"/>
              </a:spcBef>
              <a:spcAft>
                <a:spcPts val="0"/>
              </a:spcAft>
              <a:buSzPts val="1400"/>
              <a:buChar char="○"/>
            </a:pPr>
            <a:r>
              <a:rPr lang="en"/>
              <a:t>Data collection &gt; Data management &gt; Visualization  &gt; Modeling &gt; results/feedback loop</a:t>
            </a:r>
            <a:endParaRPr/>
          </a:p>
          <a:p>
            <a:pPr indent="-342900" lvl="0" marL="457200" rtl="0" algn="l">
              <a:spcBef>
                <a:spcPts val="0"/>
              </a:spcBef>
              <a:spcAft>
                <a:spcPts val="0"/>
              </a:spcAft>
              <a:buSzPts val="1800"/>
              <a:buChar char="●"/>
            </a:pPr>
            <a:r>
              <a:rPr lang="en"/>
              <a:t>The methodology helps with understanding human tendencies, naturally occurring phenomenons, and most importantly prepare for the potentially a bad season.</a:t>
            </a:r>
            <a:endParaRPr/>
          </a:p>
          <a:p>
            <a:pPr indent="-342900" lvl="0" marL="457200" rtl="0" algn="l">
              <a:spcBef>
                <a:spcPts val="0"/>
              </a:spcBef>
              <a:spcAft>
                <a:spcPts val="0"/>
              </a:spcAft>
              <a:buSzPts val="1800"/>
              <a:buChar char="●"/>
            </a:pPr>
            <a:r>
              <a:rPr lang="en"/>
              <a:t>Increasing profitability by optimizing food production, harvesting, and transportation when possible.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Applications of Data Science</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Yield</a:t>
            </a:r>
            <a:r>
              <a:rPr lang="en"/>
              <a:t> </a:t>
            </a:r>
            <a:r>
              <a:rPr lang="en"/>
              <a:t>forecast</a:t>
            </a:r>
            <a:r>
              <a:rPr lang="en"/>
              <a:t>: optimizing the harvest timing and mil throughput</a:t>
            </a:r>
            <a:endParaRPr/>
          </a:p>
          <a:p>
            <a:pPr indent="-317500" lvl="1" marL="914400" rtl="0" algn="l">
              <a:spcBef>
                <a:spcPts val="0"/>
              </a:spcBef>
              <a:spcAft>
                <a:spcPts val="0"/>
              </a:spcAft>
              <a:buSzPts val="1400"/>
              <a:buChar char="○"/>
            </a:pPr>
            <a:r>
              <a:rPr lang="en"/>
              <a:t>Example: </a:t>
            </a:r>
            <a:r>
              <a:rPr lang="en"/>
              <a:t>forecasting</a:t>
            </a:r>
            <a:r>
              <a:rPr lang="en"/>
              <a:t> the </a:t>
            </a:r>
            <a:r>
              <a:rPr lang="en"/>
              <a:t>sugarcane</a:t>
            </a:r>
            <a:r>
              <a:rPr lang="en"/>
              <a:t> fields with their Sucrose content being at its optimal levels in order harvest not just the most sugar but a largest amount as well</a:t>
            </a:r>
            <a:endParaRPr/>
          </a:p>
          <a:p>
            <a:pPr indent="-342900" lvl="0" marL="457200" rtl="0" algn="l">
              <a:spcBef>
                <a:spcPts val="0"/>
              </a:spcBef>
              <a:spcAft>
                <a:spcPts val="0"/>
              </a:spcAft>
              <a:buSzPts val="1800"/>
              <a:buChar char="●"/>
            </a:pPr>
            <a:r>
              <a:rPr lang="en"/>
              <a:t>Climate patterns: analyses climate driven trends like ENSO and seasonal effects</a:t>
            </a:r>
            <a:endParaRPr/>
          </a:p>
          <a:p>
            <a:pPr indent="-317500" lvl="1" marL="914400" rtl="0" algn="l">
              <a:spcBef>
                <a:spcPts val="0"/>
              </a:spcBef>
              <a:spcAft>
                <a:spcPts val="0"/>
              </a:spcAft>
              <a:buSzPts val="1400"/>
              <a:buChar char="○"/>
            </a:pPr>
            <a:r>
              <a:rPr lang="en"/>
              <a:t>ENSO or better known as El nino is a type of periodic </a:t>
            </a:r>
            <a:r>
              <a:rPr lang="en"/>
              <a:t>fluctuation</a:t>
            </a:r>
            <a:r>
              <a:rPr lang="en"/>
              <a:t> that affects air pressure, sea surface temperature, and the general flow of the atmosphere. It occurs every 2-7 years.</a:t>
            </a:r>
            <a:endParaRPr/>
          </a:p>
          <a:p>
            <a:pPr indent="-317500" lvl="1" marL="914400" rtl="0" algn="l">
              <a:spcBef>
                <a:spcPts val="0"/>
              </a:spcBef>
              <a:spcAft>
                <a:spcPts val="0"/>
              </a:spcAft>
              <a:buSzPts val="1400"/>
              <a:buChar char="○"/>
            </a:pPr>
            <a:r>
              <a:rPr lang="en"/>
              <a:t>With fluncations, </a:t>
            </a:r>
            <a:r>
              <a:rPr lang="en"/>
              <a:t>it's</a:t>
            </a:r>
            <a:r>
              <a:rPr lang="en"/>
              <a:t> important to keep track of when these </a:t>
            </a:r>
            <a:r>
              <a:rPr lang="en"/>
              <a:t>phenomenon can occur as they affect not just the growth of plants, but the harvesting, transportation, and every point.</a:t>
            </a:r>
            <a:endParaRPr/>
          </a:p>
          <a:p>
            <a:pPr indent="-342900" lvl="0" marL="457200" rtl="0" algn="l">
              <a:spcBef>
                <a:spcPts val="0"/>
              </a:spcBef>
              <a:spcAft>
                <a:spcPts val="0"/>
              </a:spcAft>
              <a:buSzPts val="1800"/>
              <a:buChar char="●"/>
            </a:pPr>
            <a:r>
              <a:rPr lang="en"/>
              <a:t>Pest/Disease detection: using image and spectral </a:t>
            </a:r>
            <a:r>
              <a:rPr lang="en"/>
              <a:t>analytics</a:t>
            </a:r>
            <a:r>
              <a:rPr lang="en"/>
              <a:t> during </a:t>
            </a:r>
            <a:r>
              <a:rPr lang="en"/>
              <a:t>planting</a:t>
            </a:r>
            <a:r>
              <a:rPr lang="en"/>
              <a:t> for early detections of infestations and plague. </a:t>
            </a:r>
            <a:endParaRPr/>
          </a:p>
          <a:p>
            <a:pPr indent="-317500" lvl="1" marL="914400" rtl="0" algn="l">
              <a:spcBef>
                <a:spcPts val="0"/>
              </a:spcBef>
              <a:spcAft>
                <a:spcPts val="0"/>
              </a:spcAft>
              <a:buSzPts val="1400"/>
              <a:buChar char="○"/>
            </a:pPr>
            <a:r>
              <a:rPr lang="en" sz="1800"/>
              <a:t> Spectral analytics use data of UV to infrared sensors in order to form an image of the properties to easily find anomalies in a cluster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Applications of Data Science continued.</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Precise</a:t>
            </a:r>
            <a:r>
              <a:rPr lang="en"/>
              <a:t> </a:t>
            </a:r>
            <a:r>
              <a:rPr lang="en"/>
              <a:t>management</a:t>
            </a:r>
            <a:r>
              <a:rPr lang="en"/>
              <a:t>: micro </a:t>
            </a:r>
            <a:r>
              <a:rPr lang="en"/>
              <a:t>managing</a:t>
            </a:r>
            <a:r>
              <a:rPr lang="en"/>
              <a:t> all levels of human contact with the harvest at all points</a:t>
            </a:r>
            <a:endParaRPr/>
          </a:p>
          <a:p>
            <a:pPr indent="-317500" lvl="1" marL="914400" rtl="0" algn="l">
              <a:spcBef>
                <a:spcPts val="0"/>
              </a:spcBef>
              <a:spcAft>
                <a:spcPts val="0"/>
              </a:spcAft>
              <a:buSzPts val="1400"/>
              <a:buChar char="○"/>
            </a:pPr>
            <a:r>
              <a:rPr lang="en"/>
              <a:t>Such as the </a:t>
            </a:r>
            <a:r>
              <a:rPr lang="en"/>
              <a:t>fertilization used </a:t>
            </a:r>
            <a:r>
              <a:rPr lang="en"/>
              <a:t> to best give the highest probability of a successful growth to the </a:t>
            </a:r>
            <a:r>
              <a:rPr lang="en"/>
              <a:t>ripening</a:t>
            </a:r>
            <a:r>
              <a:rPr lang="en"/>
              <a:t> application that can be predicted with analytics.</a:t>
            </a:r>
            <a:endParaRPr/>
          </a:p>
          <a:p>
            <a:pPr indent="-317500" lvl="1" marL="914400" rtl="0" algn="l">
              <a:spcBef>
                <a:spcPts val="0"/>
              </a:spcBef>
              <a:spcAft>
                <a:spcPts val="0"/>
              </a:spcAft>
              <a:buSzPts val="1400"/>
              <a:buChar char="○"/>
            </a:pPr>
            <a:r>
              <a:rPr lang="en"/>
              <a:t>As it is impossible for a whole harvest to be ready at the exact same time, there needs to be data points for when its the optimal time to start picking and reduce waste.</a:t>
            </a:r>
            <a:endParaRPr/>
          </a:p>
          <a:p>
            <a:pPr indent="-342900" lvl="0" marL="457200" rtl="0" algn="l">
              <a:spcBef>
                <a:spcPts val="0"/>
              </a:spcBef>
              <a:spcAft>
                <a:spcPts val="0"/>
              </a:spcAft>
              <a:buSzPts val="1800"/>
              <a:buChar char="●"/>
            </a:pPr>
            <a:r>
              <a:rPr lang="en"/>
              <a:t>Supply chain: the logistics and resource allocation are based on predictive outputs</a:t>
            </a:r>
            <a:endParaRPr/>
          </a:p>
          <a:p>
            <a:pPr indent="-317500" lvl="1" marL="914400" rtl="0" algn="l">
              <a:spcBef>
                <a:spcPts val="0"/>
              </a:spcBef>
              <a:spcAft>
                <a:spcPts val="0"/>
              </a:spcAft>
              <a:buSzPts val="1400"/>
              <a:buChar char="○"/>
            </a:pPr>
            <a:r>
              <a:rPr lang="en"/>
              <a:t>Knowing the timetable that the crops have in order to go from the farm to a store is the first of many steps to securing food does not go to waste as it travels to its destination. </a:t>
            </a:r>
            <a:endParaRPr/>
          </a:p>
          <a:p>
            <a:pPr indent="-317500" lvl="1" marL="914400" rtl="0" algn="l">
              <a:spcBef>
                <a:spcPts val="0"/>
              </a:spcBef>
              <a:spcAft>
                <a:spcPts val="0"/>
              </a:spcAft>
              <a:buSzPts val="1400"/>
              <a:buChar char="○"/>
            </a:pPr>
            <a:r>
              <a:rPr lang="en"/>
              <a:t>The transportation </a:t>
            </a:r>
            <a:r>
              <a:rPr lang="en"/>
              <a:t>method</a:t>
            </a:r>
            <a:r>
              <a:rPr lang="en"/>
              <a:t> with the cost vs freshness is a data point that can influence the whole process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Common Models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Generalized Linear Model</a:t>
            </a:r>
            <a:endParaRPr/>
          </a:p>
          <a:p>
            <a:pPr indent="-317500" lvl="1" marL="914400" rtl="0" algn="l">
              <a:spcBef>
                <a:spcPts val="0"/>
              </a:spcBef>
              <a:spcAft>
                <a:spcPts val="0"/>
              </a:spcAft>
              <a:buSzPts val="1400"/>
              <a:buChar char="○"/>
            </a:pPr>
            <a:r>
              <a:rPr lang="en"/>
              <a:t>Baseline </a:t>
            </a:r>
            <a:r>
              <a:rPr lang="en"/>
              <a:t>models</a:t>
            </a:r>
            <a:r>
              <a:rPr lang="en"/>
              <a:t> used for </a:t>
            </a:r>
            <a:r>
              <a:rPr lang="en"/>
              <a:t>continuous</a:t>
            </a:r>
            <a:r>
              <a:rPr lang="en"/>
              <a:t> target data. Meant to provide easy to </a:t>
            </a:r>
            <a:r>
              <a:rPr lang="en"/>
              <a:t>follow</a:t>
            </a:r>
            <a:r>
              <a:rPr lang="en"/>
              <a:t> entry data</a:t>
            </a:r>
            <a:endParaRPr/>
          </a:p>
          <a:p>
            <a:pPr indent="-342900" lvl="0" marL="457200" rtl="0" algn="l">
              <a:spcBef>
                <a:spcPts val="0"/>
              </a:spcBef>
              <a:spcAft>
                <a:spcPts val="0"/>
              </a:spcAft>
              <a:buSzPts val="1800"/>
              <a:buChar char="●"/>
            </a:pPr>
            <a:r>
              <a:rPr lang="en"/>
              <a:t>Tree ensembles &amp; boosting </a:t>
            </a:r>
            <a:endParaRPr/>
          </a:p>
          <a:p>
            <a:pPr indent="-317500" lvl="1" marL="914400" rtl="0" algn="l">
              <a:spcBef>
                <a:spcPts val="0"/>
              </a:spcBef>
              <a:spcAft>
                <a:spcPts val="0"/>
              </a:spcAft>
              <a:buSzPts val="1400"/>
              <a:buChar char="○"/>
            </a:pPr>
            <a:r>
              <a:rPr lang="en"/>
              <a:t>Machine learning technique with a focus on aggregating a lot of “weak” decisions to create an accurate “strong” predictive model.</a:t>
            </a:r>
            <a:endParaRPr/>
          </a:p>
          <a:p>
            <a:pPr indent="-317500" lvl="1" marL="914400" rtl="0" algn="l">
              <a:spcBef>
                <a:spcPts val="0"/>
              </a:spcBef>
              <a:spcAft>
                <a:spcPts val="0"/>
              </a:spcAft>
              <a:buSzPts val="1400"/>
              <a:buChar char="○"/>
            </a:pPr>
            <a:r>
              <a:rPr lang="en"/>
              <a:t>Boosting corrects the errors in the previous </a:t>
            </a:r>
            <a:r>
              <a:rPr lang="en"/>
              <a:t>sequence</a:t>
            </a:r>
            <a:r>
              <a:rPr lang="en"/>
              <a:t> which leads to more accurate up to date results</a:t>
            </a:r>
            <a:endParaRPr/>
          </a:p>
          <a:p>
            <a:pPr indent="-342900" lvl="0" marL="457200" rtl="0" algn="l">
              <a:spcBef>
                <a:spcPts val="0"/>
              </a:spcBef>
              <a:spcAft>
                <a:spcPts val="0"/>
              </a:spcAft>
              <a:buSzPts val="1800"/>
              <a:buChar char="●"/>
            </a:pPr>
            <a:r>
              <a:rPr lang="en"/>
              <a:t>Time‑series and deep models </a:t>
            </a:r>
            <a:endParaRPr/>
          </a:p>
          <a:p>
            <a:pPr indent="-317500" lvl="1" marL="914400" rtl="0" algn="l">
              <a:spcBef>
                <a:spcPts val="0"/>
              </a:spcBef>
              <a:spcAft>
                <a:spcPts val="0"/>
              </a:spcAft>
              <a:buSzPts val="1400"/>
              <a:buChar char="○"/>
            </a:pPr>
            <a:r>
              <a:rPr lang="en"/>
              <a:t>Used mostly for finding anomalies in the </a:t>
            </a:r>
            <a:r>
              <a:rPr lang="en"/>
              <a:t>finances</a:t>
            </a:r>
            <a:r>
              <a:rPr lang="en"/>
              <a:t> of the operation and </a:t>
            </a:r>
            <a:r>
              <a:rPr lang="en"/>
              <a:t>meteorology. It looks for nonlinear patterns using a neural network to find where money is being overspent on as well as forecasting possible out of season weather changes.</a:t>
            </a:r>
            <a:endParaRPr/>
          </a:p>
          <a:p>
            <a:pPr indent="-342900" lvl="0" marL="457200" rtl="0" algn="l">
              <a:spcBef>
                <a:spcPts val="0"/>
              </a:spcBef>
              <a:spcAft>
                <a:spcPts val="0"/>
              </a:spcAft>
              <a:buSzPts val="1800"/>
              <a:buChar char="●"/>
            </a:pPr>
            <a:r>
              <a:rPr lang="en"/>
              <a:t>ensemble strategies </a:t>
            </a:r>
            <a:endParaRPr/>
          </a:p>
          <a:p>
            <a:pPr indent="-317500" lvl="1" marL="914400" rtl="0" algn="l">
              <a:spcBef>
                <a:spcPts val="0"/>
              </a:spcBef>
              <a:spcAft>
                <a:spcPts val="0"/>
              </a:spcAft>
              <a:buSzPts val="1400"/>
              <a:buChar char="○"/>
            </a:pPr>
            <a:r>
              <a:rPr lang="en"/>
              <a:t>Combination of all the models listed </a:t>
            </a:r>
            <a:r>
              <a:rPr lang="en"/>
              <a:t>before</a:t>
            </a:r>
            <a:r>
              <a:rPr lang="en"/>
              <a:t> in order to solve problems, one at a time. Its to minimize errors and have the highest accuracy possible.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the Models</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Preprocessing: finding </a:t>
            </a:r>
            <a:r>
              <a:rPr lang="en"/>
              <a:t>the</a:t>
            </a:r>
            <a:r>
              <a:rPr lang="en"/>
              <a:t> Min and Max for numeric features</a:t>
            </a:r>
            <a:endParaRPr/>
          </a:p>
          <a:p>
            <a:pPr indent="-342900" lvl="0" marL="457200" rtl="0" algn="l">
              <a:spcBef>
                <a:spcPts val="0"/>
              </a:spcBef>
              <a:spcAft>
                <a:spcPts val="0"/>
              </a:spcAft>
              <a:buSzPts val="1800"/>
              <a:buChar char="●"/>
            </a:pPr>
            <a:r>
              <a:rPr lang="en"/>
              <a:t>Feature filtering: retain variables from prior model(s), before </a:t>
            </a:r>
            <a:r>
              <a:rPr lang="en"/>
              <a:t>retraining</a:t>
            </a:r>
            <a:r>
              <a:rPr lang="en"/>
              <a:t> with a new run.</a:t>
            </a:r>
            <a:endParaRPr/>
          </a:p>
          <a:p>
            <a:pPr indent="-342900" lvl="0" marL="457200" rtl="0" algn="l">
              <a:spcBef>
                <a:spcPts val="0"/>
              </a:spcBef>
              <a:spcAft>
                <a:spcPts val="0"/>
              </a:spcAft>
              <a:buSzPts val="1800"/>
              <a:buChar char="●"/>
            </a:pPr>
            <a:r>
              <a:rPr lang="en"/>
              <a:t>Validation: </a:t>
            </a:r>
            <a:r>
              <a:rPr lang="en"/>
              <a:t>confirm</a:t>
            </a:r>
            <a:r>
              <a:rPr lang="en"/>
              <a:t> data points, </a:t>
            </a:r>
            <a:endParaRPr/>
          </a:p>
          <a:p>
            <a:pPr indent="-342900" lvl="0" marL="457200" rtl="0" algn="l">
              <a:spcBef>
                <a:spcPts val="0"/>
              </a:spcBef>
              <a:spcAft>
                <a:spcPts val="0"/>
              </a:spcAft>
              <a:buSzPts val="1800"/>
              <a:buChar char="●"/>
            </a:pPr>
            <a:r>
              <a:rPr lang="en"/>
              <a:t>Model selection: after </a:t>
            </a:r>
            <a:r>
              <a:rPr lang="en"/>
              <a:t>confirming</a:t>
            </a:r>
            <a:r>
              <a:rPr lang="en"/>
              <a:t> the data as accurate, its time to choose the most </a:t>
            </a:r>
            <a:r>
              <a:rPr lang="en"/>
              <a:t>efficient</a:t>
            </a:r>
            <a:r>
              <a:rPr lang="en"/>
              <a:t> model to use</a:t>
            </a:r>
            <a:endParaRPr/>
          </a:p>
          <a:p>
            <a:pPr indent="-342900" lvl="0" marL="457200" rtl="0" algn="l">
              <a:spcBef>
                <a:spcPts val="0"/>
              </a:spcBef>
              <a:spcAft>
                <a:spcPts val="0"/>
              </a:spcAft>
              <a:buSzPts val="1800"/>
              <a:buChar char="●"/>
            </a:pPr>
            <a:r>
              <a:rPr lang="en"/>
              <a:t>Explanation: make a graph, table, etc. in order to </a:t>
            </a:r>
            <a:r>
              <a:rPr lang="en"/>
              <a:t>present</a:t>
            </a:r>
            <a:r>
              <a:rPr lang="en"/>
              <a:t> the output of the data from the model to everyday people. It must be easy to follow.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Tying in with Machine Learning</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Machine</a:t>
            </a:r>
            <a:r>
              <a:rPr lang="en"/>
              <a:t> Learning, known as ML and AutoML. is the primary tool  for capturing complex, non‑linear patterns and automating the model.</a:t>
            </a:r>
            <a:endParaRPr/>
          </a:p>
          <a:p>
            <a:pPr indent="-342900" lvl="0" marL="457200" rtl="0" algn="l">
              <a:spcBef>
                <a:spcPts val="0"/>
              </a:spcBef>
              <a:spcAft>
                <a:spcPts val="0"/>
              </a:spcAft>
              <a:buSzPts val="1800"/>
              <a:buChar char="●"/>
            </a:pPr>
            <a:r>
              <a:rPr lang="en"/>
              <a:t>combine ML predictions with statistics and domain expertise, will validate across seasons and regions to avoid incorrect conclusions.</a:t>
            </a:r>
            <a:endParaRPr/>
          </a:p>
          <a:p>
            <a:pPr indent="-342900" lvl="0" marL="457200" rtl="0" algn="l">
              <a:spcBef>
                <a:spcPts val="0"/>
              </a:spcBef>
              <a:spcAft>
                <a:spcPts val="0"/>
              </a:spcAft>
              <a:buSzPts val="1800"/>
              <a:buChar char="●"/>
            </a:pPr>
            <a:r>
              <a:rPr lang="en"/>
              <a:t>The models are focused on ecological and productive senses. It hopes to maximize not just earnings but also sustainability.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Big Data Analytics</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Big data is a process where massively complex data and </a:t>
            </a:r>
            <a:r>
              <a:rPr lang="en"/>
              <a:t>varied</a:t>
            </a:r>
            <a:r>
              <a:rPr lang="en"/>
              <a:t> datasets are examined using AI, </a:t>
            </a:r>
            <a:r>
              <a:rPr lang="en"/>
              <a:t>statistics, and machine learning.</a:t>
            </a:r>
            <a:endParaRPr/>
          </a:p>
          <a:p>
            <a:pPr indent="-317500" lvl="1" marL="914400" rtl="0" algn="l">
              <a:spcBef>
                <a:spcPts val="0"/>
              </a:spcBef>
              <a:spcAft>
                <a:spcPts val="0"/>
              </a:spcAft>
              <a:buSzPts val="1400"/>
              <a:buChar char="○"/>
            </a:pPr>
            <a:r>
              <a:rPr lang="en"/>
              <a:t>In the case of agriculture it is common to use person interviews, workflow diagrams,, weather history, financial records, and historical environmental reports.</a:t>
            </a:r>
            <a:endParaRPr/>
          </a:p>
          <a:p>
            <a:pPr indent="-342900" lvl="0" marL="457200" rtl="0" algn="l">
              <a:spcBef>
                <a:spcPts val="0"/>
              </a:spcBef>
              <a:spcAft>
                <a:spcPts val="0"/>
              </a:spcAft>
              <a:buSzPts val="1800"/>
              <a:buChar char="●"/>
            </a:pPr>
            <a:r>
              <a:rPr lang="en"/>
              <a:t>Technologies such as AI are used across precision agricultural and livestock cases. Cross referencing each other in order to find trends and anomalies.</a:t>
            </a:r>
            <a:endParaRPr/>
          </a:p>
          <a:p>
            <a:pPr indent="-342900" lvl="0" marL="457200" rtl="0" algn="l">
              <a:spcBef>
                <a:spcPts val="0"/>
              </a:spcBef>
              <a:spcAft>
                <a:spcPts val="0"/>
              </a:spcAft>
              <a:buSzPts val="1800"/>
              <a:buChar char="●"/>
            </a:pPr>
            <a:r>
              <a:rPr lang="en"/>
              <a:t>Big data is more about providing solutions to the agricultural problems while the Data science was about collecting the facts, informations, and patterns.</a:t>
            </a:r>
            <a:endParaRPr/>
          </a:p>
          <a:p>
            <a:pPr indent="-317500" lvl="1" marL="914400" rtl="0" algn="l">
              <a:spcBef>
                <a:spcPts val="0"/>
              </a:spcBef>
              <a:spcAft>
                <a:spcPts val="0"/>
              </a:spcAft>
              <a:buSzPts val="1400"/>
              <a:buChar char="○"/>
            </a:pPr>
            <a:r>
              <a:rPr lang="en"/>
              <a:t>A mixed method design is used but it is built on the information gathered internally mostly to solve the unique problems..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Big Data Analytics continued.</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Big Data has the </a:t>
            </a:r>
            <a:r>
              <a:rPr lang="en"/>
              <a:t>potential</a:t>
            </a:r>
            <a:r>
              <a:rPr lang="en"/>
              <a:t> to provide solutions to environmental variability, seasonality, and fragmented operations. As it is data driven, it provides a rigid plan for the future of farming. Sadly agriculture is an uncertain field with low margins and biological cycles that can be extremely punishing. Which leads to a low adoption of new ideas and </a:t>
            </a:r>
            <a:r>
              <a:rPr lang="en"/>
              <a:t>techniques.</a:t>
            </a:r>
            <a:endParaRPr/>
          </a:p>
          <a:p>
            <a:pPr indent="-342900" lvl="0" marL="457200" rtl="0" algn="l">
              <a:spcBef>
                <a:spcPts val="0"/>
              </a:spcBef>
              <a:spcAft>
                <a:spcPts val="0"/>
              </a:spcAft>
              <a:buSzPts val="1800"/>
              <a:buChar char="●"/>
            </a:pPr>
            <a:r>
              <a:rPr lang="en"/>
              <a:t>As demand continues to grow throughout the world, becoming more productive has become a necessity in order to survive in the industry. Leading to some farmers and investors to begrudgingly to embrace not just Big Data, but AI as a whole to gain an edge.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Four Analytics Leading to Change</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Drivers of change: the data and commerce are the main driving force in getting big data and data science to the </a:t>
            </a:r>
            <a:r>
              <a:rPr lang="en"/>
              <a:t>foreground</a:t>
            </a:r>
            <a:r>
              <a:rPr lang="en"/>
              <a:t> of agriculture.</a:t>
            </a:r>
            <a:endParaRPr/>
          </a:p>
          <a:p>
            <a:pPr indent="-342900" lvl="0" marL="457200" rtl="0" algn="l">
              <a:spcBef>
                <a:spcPts val="0"/>
              </a:spcBef>
              <a:spcAft>
                <a:spcPts val="0"/>
              </a:spcAft>
              <a:buSzPts val="1800"/>
              <a:buChar char="●"/>
            </a:pPr>
            <a:r>
              <a:rPr lang="en"/>
              <a:t>The 4 Vs: Volume, Velocity, Variety, Veracity</a:t>
            </a:r>
            <a:endParaRPr/>
          </a:p>
          <a:p>
            <a:pPr indent="-317500" lvl="1" marL="914400" rtl="0" algn="l">
              <a:spcBef>
                <a:spcPts val="0"/>
              </a:spcBef>
              <a:spcAft>
                <a:spcPts val="0"/>
              </a:spcAft>
              <a:buSzPts val="1400"/>
              <a:buChar char="○"/>
            </a:pPr>
            <a:r>
              <a:rPr lang="en"/>
              <a:t>What farmers care about is how much their </a:t>
            </a:r>
            <a:r>
              <a:rPr lang="en"/>
              <a:t>yield</a:t>
            </a:r>
            <a:r>
              <a:rPr lang="en"/>
              <a:t> will increase by, how quickly, can it help them diversify, and most importantly is it trustworthy/</a:t>
            </a:r>
            <a:r>
              <a:rPr lang="en"/>
              <a:t>accurate</a:t>
            </a:r>
            <a:r>
              <a:rPr lang="en"/>
              <a:t>. </a:t>
            </a:r>
            <a:endParaRPr/>
          </a:p>
          <a:p>
            <a:pPr indent="-342900" lvl="0" marL="457200" rtl="0" algn="l">
              <a:spcBef>
                <a:spcPts val="0"/>
              </a:spcBef>
              <a:spcAft>
                <a:spcPts val="0"/>
              </a:spcAft>
              <a:buSzPts val="1800"/>
              <a:buChar char="●"/>
            </a:pPr>
            <a:r>
              <a:rPr lang="en"/>
              <a:t>Solution Maturity: the readiness and </a:t>
            </a:r>
            <a:r>
              <a:rPr lang="en"/>
              <a:t>availability</a:t>
            </a:r>
            <a:r>
              <a:rPr lang="en"/>
              <a:t> of technology</a:t>
            </a:r>
            <a:endParaRPr/>
          </a:p>
          <a:p>
            <a:pPr indent="-317500" lvl="1" marL="914400" rtl="0" algn="l">
              <a:spcBef>
                <a:spcPts val="0"/>
              </a:spcBef>
              <a:spcAft>
                <a:spcPts val="0"/>
              </a:spcAft>
              <a:buSzPts val="1400"/>
              <a:buChar char="○"/>
            </a:pPr>
            <a:r>
              <a:rPr lang="en"/>
              <a:t>Most farmers and investors tend to want the tech to be affordable and widespread within 3 years. They want a proven track record</a:t>
            </a:r>
            <a:endParaRPr/>
          </a:p>
          <a:p>
            <a:pPr indent="-342900" lvl="0" marL="457200" rtl="0" algn="l">
              <a:spcBef>
                <a:spcPts val="0"/>
              </a:spcBef>
              <a:spcAft>
                <a:spcPts val="0"/>
              </a:spcAft>
              <a:buSzPts val="1800"/>
              <a:buChar char="●"/>
            </a:pPr>
            <a:r>
              <a:rPr lang="en"/>
              <a:t>Financial</a:t>
            </a:r>
            <a:r>
              <a:rPr lang="en"/>
              <a:t> </a:t>
            </a:r>
            <a:r>
              <a:rPr lang="en"/>
              <a:t>consideration</a:t>
            </a:r>
            <a:r>
              <a:rPr lang="en"/>
              <a:t>: depending on the scale of the farm, if its too small, they might not be able to afford all of the resources needed for data science to work. Or if the farm has investors, they will want to know how long till they get a ROI.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2C4C9"/>
        </a:solidFill>
      </p:bgPr>
    </p:bg>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Government funding</a:t>
            </a:r>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Currently the USDA offers grants and fundings to research in advancing agricultural sciences, It has a hard focus on addressing issues with food production, safety, and rural economies.</a:t>
            </a:r>
            <a:endParaRPr/>
          </a:p>
          <a:p>
            <a:pPr indent="-342900" lvl="0" marL="457200" rtl="0" algn="l">
              <a:spcBef>
                <a:spcPts val="0"/>
              </a:spcBef>
              <a:spcAft>
                <a:spcPts val="0"/>
              </a:spcAft>
              <a:buSzPts val="1800"/>
              <a:buChar char="●"/>
            </a:pPr>
            <a:r>
              <a:rPr lang="en"/>
              <a:t>It was originally </a:t>
            </a:r>
            <a:r>
              <a:rPr lang="en"/>
              <a:t>established</a:t>
            </a:r>
            <a:r>
              <a:rPr lang="en"/>
              <a:t> in 2008 as part of the farm bill but was given more attention in 2018.</a:t>
            </a:r>
            <a:endParaRPr/>
          </a:p>
          <a:p>
            <a:pPr indent="-342900" lvl="0" marL="457200" rtl="0" algn="l">
              <a:spcBef>
                <a:spcPts val="0"/>
              </a:spcBef>
              <a:spcAft>
                <a:spcPts val="0"/>
              </a:spcAft>
              <a:buSzPts val="1800"/>
              <a:buChar char="●"/>
            </a:pPr>
            <a:r>
              <a:rPr lang="en"/>
              <a:t>In 2024 The Consolidated Appropriations Act allocated another $445.2 million to projects as </a:t>
            </a:r>
            <a:r>
              <a:rPr lang="en"/>
              <a:t>sustainability</a:t>
            </a:r>
            <a:r>
              <a:rPr lang="en"/>
              <a:t> with a </a:t>
            </a:r>
            <a:r>
              <a:rPr lang="en"/>
              <a:t>growing</a:t>
            </a:r>
            <a:r>
              <a:rPr lang="en"/>
              <a:t> global population has become a center point.</a:t>
            </a:r>
            <a:endParaRPr/>
          </a:p>
          <a:p>
            <a:pPr indent="-342900" lvl="0" marL="457200" rtl="0" algn="l">
              <a:spcBef>
                <a:spcPts val="0"/>
              </a:spcBef>
              <a:spcAft>
                <a:spcPts val="0"/>
              </a:spcAft>
              <a:buSzPts val="1800"/>
              <a:buChar char="●"/>
            </a:pPr>
            <a:r>
              <a:rPr lang="en"/>
              <a:t>Anyone from private companies, public services, </a:t>
            </a:r>
            <a:r>
              <a:rPr lang="en"/>
              <a:t>universities</a:t>
            </a:r>
            <a:r>
              <a:rPr lang="en"/>
              <a:t>, to </a:t>
            </a:r>
            <a:r>
              <a:rPr lang="en"/>
              <a:t>researchers</a:t>
            </a:r>
            <a:r>
              <a:rPr lang="en"/>
              <a:t> can apply for a grant. As the landscape changes more money will continue to be poured into research and development.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2C4C9"/>
        </a:solidFill>
      </p:bgPr>
    </p:bg>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Example pt 1</a:t>
            </a:r>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MISSISSIPPI STATE UNIVERSITY was granted $591,250.00 for research in “Harnessing AI to improve yield monitor data veracity to increase the adoption of precision agricultural management” </a:t>
            </a:r>
            <a:endParaRPr/>
          </a:p>
          <a:p>
            <a:pPr indent="-342900" lvl="0" marL="457200" rtl="0" algn="l">
              <a:spcBef>
                <a:spcPts val="0"/>
              </a:spcBef>
              <a:spcAft>
                <a:spcPts val="0"/>
              </a:spcAft>
              <a:buSzPts val="1800"/>
              <a:buChar char="●"/>
            </a:pPr>
            <a:r>
              <a:rPr lang="en"/>
              <a:t>Their methodology is based on creating a Convolutional neural network and long term short memory based DNN models. They will </a:t>
            </a:r>
            <a:r>
              <a:rPr lang="en"/>
              <a:t>monitor</a:t>
            </a:r>
            <a:r>
              <a:rPr lang="en"/>
              <a:t> 5000 acres and use historical data along with it to remove random errors that pop up</a:t>
            </a:r>
            <a:endParaRPr/>
          </a:p>
          <a:p>
            <a:pPr indent="-342900" lvl="0" marL="457200" rtl="0" algn="l">
              <a:spcBef>
                <a:spcPts val="0"/>
              </a:spcBef>
              <a:spcAft>
                <a:spcPts val="0"/>
              </a:spcAft>
              <a:buSzPts val="1800"/>
              <a:buChar char="●"/>
            </a:pPr>
            <a:r>
              <a:rPr lang="en"/>
              <a:t>Their main goal is to find out the crop mass, moisture levels, and use machine parameters to estimate an accurate </a:t>
            </a:r>
            <a:r>
              <a:rPr lang="en"/>
              <a:t>yield</a:t>
            </a:r>
            <a:r>
              <a:rPr lang="en"/>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2C4C9"/>
        </a:solidFill>
      </p:bgPr>
    </p:bg>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Example pt 2</a:t>
            </a:r>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UNIVERSITY OF FLORIDA was granted $591,460.00 to research an “AI-driven genomic and crop simulation models for enhancing plant breeding using high-throughput phenotyping”</a:t>
            </a:r>
            <a:endParaRPr/>
          </a:p>
          <a:p>
            <a:pPr indent="-342900" lvl="0" marL="457200" rtl="0" algn="l">
              <a:spcBef>
                <a:spcPts val="0"/>
              </a:spcBef>
              <a:spcAft>
                <a:spcPts val="0"/>
              </a:spcAft>
              <a:buSzPts val="1800"/>
              <a:buChar char="●"/>
            </a:pPr>
            <a:r>
              <a:rPr lang="en"/>
              <a:t>Their </a:t>
            </a:r>
            <a:r>
              <a:rPr lang="en"/>
              <a:t>methodology</a:t>
            </a:r>
            <a:r>
              <a:rPr lang="en"/>
              <a:t> is to combine state of the art AI </a:t>
            </a:r>
            <a:r>
              <a:rPr lang="en"/>
              <a:t>algorithms</a:t>
            </a:r>
            <a:r>
              <a:rPr lang="en"/>
              <a:t> with standard crop </a:t>
            </a:r>
            <a:r>
              <a:rPr lang="en"/>
              <a:t>simulation</a:t>
            </a:r>
            <a:r>
              <a:rPr lang="en"/>
              <a:t> models. Using low cost RGB cameras to monitor and collect the data. The harvest data collection will be of 7000 plots where they will </a:t>
            </a:r>
            <a:r>
              <a:rPr lang="en"/>
              <a:t>measure</a:t>
            </a:r>
            <a:r>
              <a:rPr lang="en"/>
              <a:t> the tuber length, width, weight, color, and deformities.</a:t>
            </a:r>
            <a:endParaRPr/>
          </a:p>
          <a:p>
            <a:pPr indent="-342900" lvl="0" marL="457200" rtl="0" algn="l">
              <a:spcBef>
                <a:spcPts val="0"/>
              </a:spcBef>
              <a:spcAft>
                <a:spcPts val="0"/>
              </a:spcAft>
              <a:buSzPts val="1800"/>
              <a:buChar char="●"/>
            </a:pPr>
            <a:r>
              <a:rPr lang="en"/>
              <a:t>Their main objection is to cross breed stronger plants at a lower cost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2C4C9"/>
        </a:solidFill>
      </p:bgPr>
    </p:bg>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Future of Data Science in Agriculture</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Agriculture is a field that might seem stagnated but like with everything else in today’s world, it continues to </a:t>
            </a:r>
            <a:r>
              <a:rPr lang="en"/>
              <a:t>change</a:t>
            </a:r>
            <a:r>
              <a:rPr lang="en"/>
              <a:t> and advance. </a:t>
            </a:r>
            <a:endParaRPr/>
          </a:p>
          <a:p>
            <a:pPr indent="-342900" lvl="0" marL="457200" rtl="0" algn="l">
              <a:spcBef>
                <a:spcPts val="0"/>
              </a:spcBef>
              <a:spcAft>
                <a:spcPts val="0"/>
              </a:spcAft>
              <a:buSzPts val="1800"/>
              <a:buChar char="●"/>
            </a:pPr>
            <a:r>
              <a:rPr lang="en"/>
              <a:t>There are even university level programs that have a sole focus on data science in agriculture. In North </a:t>
            </a:r>
            <a:r>
              <a:rPr lang="en"/>
              <a:t>Carolina State University for instance, they have an</a:t>
            </a:r>
            <a:r>
              <a:rPr lang="en"/>
              <a:t> Ag Data Science bachelor of science program. As well as many </a:t>
            </a:r>
            <a:r>
              <a:rPr lang="en"/>
              <a:t>universities</a:t>
            </a:r>
            <a:r>
              <a:rPr lang="en"/>
              <a:t> having research teams for the topic as well</a:t>
            </a:r>
            <a:endParaRPr/>
          </a:p>
          <a:p>
            <a:pPr indent="-342900" lvl="0" marL="457200" rtl="0" algn="l">
              <a:spcBef>
                <a:spcPts val="0"/>
              </a:spcBef>
              <a:spcAft>
                <a:spcPts val="0"/>
              </a:spcAft>
              <a:buSzPts val="1800"/>
              <a:buChar char="●"/>
            </a:pPr>
            <a:r>
              <a:rPr lang="en"/>
              <a:t>Most importantly there are also many investors such as blackrock now paying </a:t>
            </a:r>
            <a:r>
              <a:rPr lang="en"/>
              <a:t>consultants to help increase their yields and help future proof operations. As the world continues to change and climate change takes its toll, Data science will play a vital role in not just in the economics side of agriculture but also our survival as a species.</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